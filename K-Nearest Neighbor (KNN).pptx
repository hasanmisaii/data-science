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71" r:id="rId7"/>
    <p:sldId id="272" r:id="rId8"/>
    <p:sldId id="273" r:id="rId9"/>
    <p:sldId id="274" r:id="rId10"/>
    <p:sldId id="275" r:id="rId11"/>
    <p:sldId id="277" r:id="rId12"/>
    <p:sldId id="279" r:id="rId13"/>
    <p:sldId id="276" r:id="rId14"/>
    <p:sldId id="278" r:id="rId15"/>
    <p:sldId id="26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84E427A-3D55-4303-BF80-6455036E1DE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291" autoAdjust="0"/>
  </p:normalViewPr>
  <p:slideViewPr>
    <p:cSldViewPr snapToGrid="0" showGuides="1">
      <p:cViewPr varScale="1">
        <p:scale>
          <a:sx n="83" d="100"/>
          <a:sy n="83" d="100"/>
        </p:scale>
        <p:origin x="45" y="495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9/6/2024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1680191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1333943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4720037"/>
            <a:ext cx="10090287" cy="1101897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Tagline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88C711-3D16-496B-BF96-001A0C0A3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2374" y="6430061"/>
            <a:ext cx="241402" cy="197510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3410712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81036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70604" y="4804366"/>
            <a:ext cx="4050792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F6DD4A-6071-4D11-ABDB-28EA5AC871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942478"/>
            <a:ext cx="10515600" cy="45908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3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with pine trees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685800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169256"/>
            <a:ext cx="5285914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136036"/>
            <a:ext cx="5285914" cy="857098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992586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00269"/>
            <a:ext cx="5288963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Close up view of lake edge with mountain range background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093460"/>
            <a:ext cx="5320386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060240"/>
            <a:ext cx="5320386" cy="882524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693" y="1916790"/>
            <a:ext cx="4500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B6CBCCA-9781-462D-AF43-C6AAE3D1A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17897" y="1125545"/>
            <a:ext cx="4707842" cy="1849304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59649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1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9649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7121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COMPARISON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1752" y="1667974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48" y="3359239"/>
            <a:ext cx="4357688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2081624"/>
            <a:ext cx="4357688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CHART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877" y="3191969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Chart Placeholder 18">
            <a:extLst>
              <a:ext uri="{FF2B5EF4-FFF2-40B4-BE49-F238E27FC236}">
                <a16:creationId xmlns:a16="http://schemas.microsoft.com/office/drawing/2014/main" id="{BE9C98A7-B145-402E-BADA-CE785E3BA99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981371" y="1246188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534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3563" y="3359239"/>
            <a:ext cx="2596896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3562" y="1757774"/>
            <a:ext cx="2669859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TABLE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83563" y="3191969"/>
            <a:ext cx="154533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Table Placeholder 17">
            <a:extLst>
              <a:ext uri="{FF2B5EF4-FFF2-40B4-BE49-F238E27FC236}">
                <a16:creationId xmlns:a16="http://schemas.microsoft.com/office/drawing/2014/main" id="{62814DE5-26B2-4A8E-BA8D-A2E4C5547E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11225" y="1505433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1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C23D1-BE9A-4E52-9BEF-D55C4CB7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5798" y="6386170"/>
            <a:ext cx="307239" cy="343814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236829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B33A3032-1037-4342-827F-CF1349978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6F6A17-AFDC-40C7-9D63-50FA052A16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BIG IMAGE 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8B9DC-C6AF-45D4-BBA3-A5EF781E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59708" y="1667974"/>
            <a:ext cx="4672584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873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VIDEO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lake and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82190F1B-1701-4806-870F-8FC7F32F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222968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+7 678-555-0128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72B7F81-5409-42D9-B44C-88D9CBD9BA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392769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AA54554-5CE2-43AD-979D-F095482C49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0857" y="2655074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A1D8F0C1-128A-435B-8585-F0B32496EC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5722" y="5230723"/>
            <a:ext cx="5920556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martensson@example.com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0B48E8B-E525-4852-9167-5281C64B1C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4929014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C5EB90F-1ADD-412B-9044-2CC607B78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856" y="993494"/>
            <a:ext cx="10104124" cy="1517356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0A1271-E1E7-40AB-9552-9B4249544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56204" y="2421953"/>
            <a:ext cx="5879592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117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214E67-DE9D-42F7-B713-798383BBD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021" y="4720036"/>
            <a:ext cx="10117959" cy="1101898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3500" b="0" i="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8553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1B00995-C0FC-4EC6-A9B0-828FB28FC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5114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22F4F2-F130-4DBE-B244-1D59BBE5CD9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CE5575-876A-4335-83ED-6B346DA1B4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503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F82F6E-10E8-4A58-9655-E18D14D790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40863"/>
            <a:ext cx="5157787" cy="66421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6C18E-5BCB-42EF-9310-5BD6E011D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A2923F-D123-40C6-A193-B86D683D5B5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40863"/>
            <a:ext cx="5183188" cy="6642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305C175-94AC-44DD-9321-0A8DBDF22DA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998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9FEF38-E3A7-4527-97CB-AF528BAEBA8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0012" y="457200"/>
            <a:ext cx="6172200" cy="540861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947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B69B4CE-EB2F-46CF-9A80-64E44E5E9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830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2920" y="1667974"/>
            <a:ext cx="356616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756-19E0-4B2F-B1D5-7664E0B3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06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17776" y="1667974"/>
            <a:ext cx="8156448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2535" y="1984171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77939" y="1984171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77950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4052" y="2001950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0059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8684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793" y="3103993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6955" y="3102450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7040" y="5751926"/>
            <a:ext cx="8877920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791" y="5070254"/>
            <a:ext cx="259919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90713" y="5070254"/>
            <a:ext cx="371266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976866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4041034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4041034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7" r:id="rId2"/>
    <p:sldLayoutId id="2147483678" r:id="rId3"/>
    <p:sldLayoutId id="2147483679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87" r:id="rId17"/>
    <p:sldLayoutId id="2147483695" r:id="rId18"/>
    <p:sldLayoutId id="2147483688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scott.fortmann-roe.com/docs/BiasVariance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hasanmisaii/Data-Science/blob/main/Optimal_K_in_KNN.ipyn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sanmisaii/Data-Science/blob/main/Optimal_K_in_KNN.ipynb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deryckel.github.io/machinelearningwithr/knnchapter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021" y="943897"/>
            <a:ext cx="10117959" cy="1563329"/>
          </a:xfrm>
        </p:spPr>
        <p:txBody>
          <a:bodyPr/>
          <a:lstStyle/>
          <a:p>
            <a:r>
              <a:rPr lang="en-US" sz="4800" dirty="0"/>
              <a:t>Introduction to K-Nearest Neighbors (KNN)</a:t>
            </a:r>
            <a:endParaRPr lang="ru-RU" sz="4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26AAFC-6116-0C3F-E8C4-D14108CE8F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Hasan MISAII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4DA9C-5F93-EA4D-223B-161C3DDE36AE}"/>
              </a:ext>
            </a:extLst>
          </p:cNvPr>
          <p:cNvSpPr txBox="1"/>
          <p:nvPr/>
        </p:nvSpPr>
        <p:spPr>
          <a:xfrm>
            <a:off x="1150373" y="2920181"/>
            <a:ext cx="102353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 Supervised Learning Algorithm for Classification and Regression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574C9-4B3A-4845-411D-BF7E53A6A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49CDF-F291-D196-5987-ADEA53FF8F44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Agenda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60F6F3-6C66-F162-D15D-80E151533D54}"/>
              </a:ext>
            </a:extLst>
          </p:cNvPr>
          <p:cNvSpPr/>
          <p:nvPr/>
        </p:nvSpPr>
        <p:spPr>
          <a:xfrm>
            <a:off x="317090" y="848032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KNN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KNN works 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Metrics in KNN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Value of K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with Python and R Codes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8298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FD738-5111-C48A-DFB8-BC2C1DB7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EB14B-0309-A7BB-C8EA-B58603446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821279" y="6118484"/>
            <a:ext cx="549442" cy="365125"/>
          </a:xfrm>
        </p:spPr>
        <p:txBody>
          <a:bodyPr/>
          <a:lstStyle/>
          <a:p>
            <a:fld id="{D495E168-DA5E-4888-8D8A-92B118324C14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BC33E-3ABC-7A6A-EC17-6EE9C4886E61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Introduction to KNN</a:t>
            </a:r>
          </a:p>
        </p:txBody>
      </p:sp>
      <p:pic>
        <p:nvPicPr>
          <p:cNvPr id="1026" name="Picture 2" descr="How does KNN Algorithm work - KNN Algorithm In R - Edureka">
            <a:extLst>
              <a:ext uri="{FF2B5EF4-FFF2-40B4-BE49-F238E27FC236}">
                <a16:creationId xmlns:a16="http://schemas.microsoft.com/office/drawing/2014/main" id="{B9039328-8C20-3A0D-3B6E-1C3FFA5B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063" y="3354237"/>
            <a:ext cx="5485201" cy="2597160"/>
          </a:xfrm>
          <a:prstGeom prst="rect">
            <a:avLst/>
          </a:prstGeom>
          <a:noFill/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50800" dir="5400000" algn="ctr" rotWithShape="0">
              <a:schemeClr val="accent6"/>
            </a:outerShdw>
          </a:effectLst>
          <a:scene3d>
            <a:camera prst="orthographicFront"/>
            <a:lightRig rig="threePt" dir="t"/>
          </a:scene3d>
          <a:sp3d contourW="12700">
            <a:bevelT prst="relaxedInset"/>
            <a:contourClr>
              <a:schemeClr val="accent2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What is KNN Algorithm - KNN Algorithm In R - Edureka">
            <a:extLst>
              <a:ext uri="{FF2B5EF4-FFF2-40B4-BE49-F238E27FC236}">
                <a16:creationId xmlns:a16="http://schemas.microsoft.com/office/drawing/2014/main" id="{5F16E734-A12A-13CC-BAD8-C0E4CE674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72" y="1160226"/>
            <a:ext cx="5526312" cy="173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77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6CE38-98BE-DD36-20E1-1A8A6D8F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FF4CE-130C-CF4F-BCC9-91356B384A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98360-C949-D4C2-877D-664ED2E72E6B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KNN?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5DAFBB0-4019-A5E4-95C8-E0BDDEA75A62}"/>
                  </a:ext>
                </a:extLst>
              </p:cNvPr>
              <p:cNvSpPr/>
              <p:nvPr/>
            </p:nvSpPr>
            <p:spPr>
              <a:xfrm>
                <a:off x="317090" y="811396"/>
                <a:ext cx="11710220" cy="5270452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K-Nearest Neighbors is a simple and intuitive </a:t>
                </a:r>
                <a:r>
                  <a:rPr lang="en-US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supervised learning algorithm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for both </a:t>
                </a:r>
                <a:r>
                  <a:rPr lang="en-US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regression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tasks.</a:t>
                </a: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Relies on the idea that similar instances (data points) are close in feature space.</a:t>
                </a: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𝑪𝒍𝒂𝒔𝒔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𝑪𝒍𝒂𝒔𝒔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5DAFBB0-4019-A5E4-95C8-E0BDDEA75A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90" y="811396"/>
                <a:ext cx="11710220" cy="5270452"/>
              </a:xfrm>
              <a:prstGeom prst="rect">
                <a:avLst/>
              </a:prstGeom>
              <a:blipFill>
                <a:blip r:embed="rId3"/>
                <a:stretch>
                  <a:fillRect l="-312"/>
                </a:stretch>
              </a:blip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ow does KNN Algorithm work 2 - KNN Algorithm In R - Edureka">
            <a:extLst>
              <a:ext uri="{FF2B5EF4-FFF2-40B4-BE49-F238E27FC236}">
                <a16:creationId xmlns:a16="http://schemas.microsoft.com/office/drawing/2014/main" id="{CE72848B-D967-0CEF-3040-4B266954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55" y="3039756"/>
            <a:ext cx="4171344" cy="197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does KNN Algorithm work 3 - KNN Algorithm In R - Edureka">
            <a:extLst>
              <a:ext uri="{FF2B5EF4-FFF2-40B4-BE49-F238E27FC236}">
                <a16:creationId xmlns:a16="http://schemas.microsoft.com/office/drawing/2014/main" id="{52C9F1DA-D55C-AA5E-167E-D56443DF9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564" y="2983405"/>
            <a:ext cx="4171345" cy="197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052D500-DA86-9427-F92E-FD9701FC90C8}"/>
              </a:ext>
            </a:extLst>
          </p:cNvPr>
          <p:cNvSpPr/>
          <p:nvPr/>
        </p:nvSpPr>
        <p:spPr>
          <a:xfrm>
            <a:off x="5578416" y="3763957"/>
            <a:ext cx="1062436" cy="485990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7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EE697D-3F8F-C408-4518-D4DC669F6733}"/>
              </a:ext>
            </a:extLst>
          </p:cNvPr>
          <p:cNvSpPr/>
          <p:nvPr/>
        </p:nvSpPr>
        <p:spPr>
          <a:xfrm>
            <a:off x="3670257" y="3185652"/>
            <a:ext cx="663677" cy="333925"/>
          </a:xfrm>
          <a:prstGeom prst="round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US" dirty="0"/>
              <a:t>K=7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606D9C-F43E-5799-05AE-7765A4D00B4C}"/>
              </a:ext>
            </a:extLst>
          </p:cNvPr>
          <p:cNvSpPr/>
          <p:nvPr/>
        </p:nvSpPr>
        <p:spPr>
          <a:xfrm rot="19094612">
            <a:off x="5388814" y="3230346"/>
            <a:ext cx="272594" cy="25566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24FBA7-17C3-A0A7-15B8-62DD4E732809}"/>
              </a:ext>
            </a:extLst>
          </p:cNvPr>
          <p:cNvSpPr/>
          <p:nvPr/>
        </p:nvSpPr>
        <p:spPr>
          <a:xfrm rot="19094612">
            <a:off x="5388814" y="4575577"/>
            <a:ext cx="272594" cy="25566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0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536B1-2D60-F38E-D331-C33633EB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BE291-9C9B-B908-62B1-994244617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40BEC-CF8C-5BC9-6FC1-3B2F9D81FFE3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KNN Works?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8203F5-B861-D26F-EC46-335D90833FA6}"/>
              </a:ext>
            </a:extLst>
          </p:cNvPr>
          <p:cNvSpPr/>
          <p:nvPr/>
        </p:nvSpPr>
        <p:spPr>
          <a:xfrm>
            <a:off x="3170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for 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of neighbors);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new point and all points in the dataset;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K closest neighbors;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Classification: Assign the majority label among the neighbors;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Regression: Calculate the average of the neighbors' values.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How does KNN Algorithm work 1 - KNN Algorithm In R - Edureka">
            <a:extLst>
              <a:ext uri="{FF2B5EF4-FFF2-40B4-BE49-F238E27FC236}">
                <a16:creationId xmlns:a16="http://schemas.microsoft.com/office/drawing/2014/main" id="{BC44CC81-FA47-5781-54E5-8EEC7D886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432" y="3528859"/>
            <a:ext cx="50292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52636C-D8F9-C9D5-9692-3E0A3705F306}"/>
              </a:ext>
            </a:extLst>
          </p:cNvPr>
          <p:cNvSpPr/>
          <p:nvPr/>
        </p:nvSpPr>
        <p:spPr>
          <a:xfrm>
            <a:off x="10670458" y="3723968"/>
            <a:ext cx="774290" cy="33183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US" dirty="0"/>
              <a:t>K=3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701A3-5465-E982-8A11-7914C7AA6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755" y="2391581"/>
            <a:ext cx="3190898" cy="8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3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D6E87-D4A5-5F7C-3C4D-296B1E5F3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0926C-6340-1BC5-0E3E-B2EC0F21D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FBDE1-1868-F872-DF71-F35DEA3491D7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to Choose K?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F499D2-EC4E-7A40-7ABA-AE4FB393F74C}"/>
              </a:ext>
            </a:extLst>
          </p:cNvPr>
          <p:cNvSpPr/>
          <p:nvPr/>
        </p:nvSpPr>
        <p:spPr>
          <a:xfrm>
            <a:off x="3170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C39AE6-8325-3258-21CD-DB017F577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977" y="1351472"/>
            <a:ext cx="4335423" cy="232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CBAB663-F80D-1243-81B9-474567D358DB}"/>
              </a:ext>
            </a:extLst>
          </p:cNvPr>
          <p:cNvSpPr/>
          <p:nvPr/>
        </p:nvSpPr>
        <p:spPr>
          <a:xfrm>
            <a:off x="8656113" y="5755538"/>
            <a:ext cx="2622430" cy="988331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Github_Link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D910C0E-1B1B-ACA2-B64E-2A499641A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6" y="1174534"/>
            <a:ext cx="2841428" cy="28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FD39D83-6DB1-9B60-307E-E94DFE294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339" y="1174534"/>
            <a:ext cx="2841428" cy="28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E5CF76-B4F3-6409-0D25-F28D05D72CE8}"/>
              </a:ext>
            </a:extLst>
          </p:cNvPr>
          <p:cNvSpPr/>
          <p:nvPr/>
        </p:nvSpPr>
        <p:spPr>
          <a:xfrm>
            <a:off x="627825" y="4120127"/>
            <a:ext cx="2622430" cy="185755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dirty="0"/>
              <a:t>Small K (e.g., K=1): Can lead to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overfitting</a:t>
            </a:r>
            <a:r>
              <a:rPr lang="en-US" sz="1600" dirty="0"/>
              <a:t> and sensitivity to noise (provides the most flexible fit, which will have low bias but high variance).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9EB76B-79DA-9DB9-4ECA-935F5B56D431}"/>
              </a:ext>
            </a:extLst>
          </p:cNvPr>
          <p:cNvSpPr/>
          <p:nvPr/>
        </p:nvSpPr>
        <p:spPr>
          <a:xfrm>
            <a:off x="4328549" y="4120127"/>
            <a:ext cx="2622430" cy="185755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600" dirty="0"/>
          </a:p>
          <a:p>
            <a:pPr algn="just"/>
            <a:r>
              <a:rPr lang="en-US" sz="1600" dirty="0"/>
              <a:t>Large K: can lead to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underfitting</a:t>
            </a:r>
            <a:r>
              <a:rPr lang="en-US" sz="1600" dirty="0"/>
              <a:t>, as the model becomes too generalized (have smoother decision boundaries which means lower variance but increased bias).</a:t>
            </a:r>
          </a:p>
          <a:p>
            <a:pPr algn="just"/>
            <a:endParaRPr lang="en-US" sz="1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83F823-9948-4C41-B248-6ADE4DF296C0}"/>
              </a:ext>
            </a:extLst>
          </p:cNvPr>
          <p:cNvSpPr/>
          <p:nvPr/>
        </p:nvSpPr>
        <p:spPr>
          <a:xfrm>
            <a:off x="8656113" y="4120127"/>
            <a:ext cx="2622430" cy="185755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Cross validation </a:t>
            </a:r>
            <a:r>
              <a:rPr lang="en-US" sz="1600" dirty="0"/>
              <a:t>is often used to find the optimal value of K.</a:t>
            </a:r>
          </a:p>
          <a:p>
            <a:pPr algn="just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DFCF8-45F9-D5AF-7789-18DEB0CDF1D3}"/>
              </a:ext>
            </a:extLst>
          </p:cNvPr>
          <p:cNvSpPr txBox="1"/>
          <p:nvPr/>
        </p:nvSpPr>
        <p:spPr>
          <a:xfrm>
            <a:off x="2685691" y="5977682"/>
            <a:ext cx="2269698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Palatino Linotype" panose="02040502050505030304" pitchFamily="18" charset="0"/>
                <a:hlinkClick r:id="rId7"/>
              </a:rPr>
              <a:t>Understanding the Bias-Variance Tradeoff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77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9E646-4756-9199-900C-126DF66C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EC1B4-EF23-C5A3-8A90-F4062D93D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AFF74-E67C-841B-4F4B-CEA5E55193A2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Distance Metrics in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DF9132-31CF-2123-DBA4-028F7EB15646}"/>
                  </a:ext>
                </a:extLst>
              </p:cNvPr>
              <p:cNvSpPr/>
              <p:nvPr/>
            </p:nvSpPr>
            <p:spPr>
              <a:xfrm>
                <a:off x="240890" y="811396"/>
                <a:ext cx="11710220" cy="5270452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 Distance (most common for continuous variables):</a:t>
                </a: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Manhattan Distance (good for grid-like data):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Hamming Distance (for categorical data): It uses a contingency table to count the number of mismatches among the observations.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DF9132-31CF-2123-DBA4-028F7EB156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90" y="811396"/>
                <a:ext cx="11710220" cy="5270452"/>
              </a:xfrm>
              <a:prstGeom prst="rect">
                <a:avLst/>
              </a:prstGeom>
              <a:blipFill>
                <a:blip r:embed="rId3"/>
                <a:stretch>
                  <a:fillRect l="-365"/>
                </a:stretch>
              </a:blip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Comparing Manhattan distance and Euclidian distance of two vectors on a Cartesian coordinate plane">
            <a:extLst>
              <a:ext uri="{FF2B5EF4-FFF2-40B4-BE49-F238E27FC236}">
                <a16:creationId xmlns:a16="http://schemas.microsoft.com/office/drawing/2014/main" id="{4E451CFA-2672-2898-0978-74EDDD727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252" y="971909"/>
            <a:ext cx="3014632" cy="27257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27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4A52A-BA56-CE4D-2221-56F9C808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788F4-02B7-466A-9AC2-B16ADCE2C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843100-D634-646D-1A1C-1AE16F09FBE8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KNN implementation (Python)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064AB-C17F-EBD0-AA76-7B2939BCAACE}"/>
              </a:ext>
            </a:extLst>
          </p:cNvPr>
          <p:cNvSpPr/>
          <p:nvPr/>
        </p:nvSpPr>
        <p:spPr>
          <a:xfrm>
            <a:off x="2408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sklearn.neighbors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Load the dataset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iris.data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iris.target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Split the data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KNN Classifier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n_neighbors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knn.fit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Make predictions and calculate accuracy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knn.predict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f"Accuracy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{accuracy * 100:.2f}%")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173B2F0-3DD7-9C75-735E-42884F3C60A2}"/>
              </a:ext>
            </a:extLst>
          </p:cNvPr>
          <p:cNvSpPr/>
          <p:nvPr/>
        </p:nvSpPr>
        <p:spPr>
          <a:xfrm>
            <a:off x="8995418" y="2952456"/>
            <a:ext cx="2622430" cy="988331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Github_Link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00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3B0D-F253-8946-713C-399A8538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00CC2-FA54-BB47-4EE1-DD8611B64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4336F-52E7-4C47-ED73-54652129C9BD}"/>
              </a:ext>
            </a:extLst>
          </p:cNvPr>
          <p:cNvSpPr txBox="1"/>
          <p:nvPr/>
        </p:nvSpPr>
        <p:spPr>
          <a:xfrm>
            <a:off x="4861438" y="374650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KNN implementation (R)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7E0CFB-7F00-3D82-5AB3-078326E9FD2C}"/>
              </a:ext>
            </a:extLst>
          </p:cNvPr>
          <p:cNvSpPr/>
          <p:nvPr/>
        </p:nvSpPr>
        <p:spPr>
          <a:xfrm>
            <a:off x="2408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it as a practice! </a:t>
            </a:r>
          </a:p>
          <a:p>
            <a:pPr algn="l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a dataset in R and try to make a KNN classification or regression Task;)</a:t>
            </a:r>
          </a:p>
          <a:p>
            <a:pPr algn="ctr"/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HINT</a:t>
            </a: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6390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7891B-3A7B-F7B0-3C0E-216A618E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655195-3BD6-4B09-2F0F-024CBA9AE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01392-48CA-7742-1A13-6850DCFF8FD8}"/>
              </a:ext>
            </a:extLst>
          </p:cNvPr>
          <p:cNvSpPr txBox="1"/>
          <p:nvPr/>
        </p:nvSpPr>
        <p:spPr>
          <a:xfrm>
            <a:off x="3640347" y="374650"/>
            <a:ext cx="7315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Advantages and Disadvantages of KNN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8741A-371E-6B6B-CB8F-E5848F49EB58}"/>
              </a:ext>
            </a:extLst>
          </p:cNvPr>
          <p:cNvSpPr/>
          <p:nvPr/>
        </p:nvSpPr>
        <p:spPr>
          <a:xfrm>
            <a:off x="2408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9F927A-5B09-FCBB-A3F4-34835AC27A96}"/>
              </a:ext>
            </a:extLst>
          </p:cNvPr>
          <p:cNvSpPr/>
          <p:nvPr/>
        </p:nvSpPr>
        <p:spPr>
          <a:xfrm>
            <a:off x="644106" y="1633268"/>
            <a:ext cx="4963064" cy="3048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Simple and easy to implement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Works well for small datasets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No train phase; predictions made in real time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4F147-D943-2BAD-A307-237AFA33C0B4}"/>
              </a:ext>
            </a:extLst>
          </p:cNvPr>
          <p:cNvSpPr/>
          <p:nvPr/>
        </p:nvSpPr>
        <p:spPr>
          <a:xfrm>
            <a:off x="6487064" y="1633268"/>
            <a:ext cx="4963064" cy="3048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Computationally expensive for large datasets (distance to all points needs to be computed)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Requires feature scaling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Sensitive to irrelevant features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193084-AC35-DA46-1B0E-DDAE07E86FA0}"/>
              </a:ext>
            </a:extLst>
          </p:cNvPr>
          <p:cNvSpPr/>
          <p:nvPr/>
        </p:nvSpPr>
        <p:spPr>
          <a:xfrm>
            <a:off x="1943819" y="1708031"/>
            <a:ext cx="2265871" cy="47157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dirty="0"/>
              <a:t>advantages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56B6EB-2459-9852-61C4-E00738975A4C}"/>
              </a:ext>
            </a:extLst>
          </p:cNvPr>
          <p:cNvSpPr/>
          <p:nvPr/>
        </p:nvSpPr>
        <p:spPr>
          <a:xfrm>
            <a:off x="7726362" y="1693652"/>
            <a:ext cx="2265871" cy="47157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dirty="0"/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331767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2F0EB-B3D2-3D2B-7F2D-3B1E97D7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16C40-1C1D-A830-8591-4B7C52DDD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2A55B-8804-99FF-B14A-1790A1900C34}"/>
              </a:ext>
            </a:extLst>
          </p:cNvPr>
          <p:cNvSpPr txBox="1"/>
          <p:nvPr/>
        </p:nvSpPr>
        <p:spPr>
          <a:xfrm>
            <a:off x="5129842" y="374650"/>
            <a:ext cx="5826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Summary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7F949-693F-5E39-12DB-148529D5A0E7}"/>
              </a:ext>
            </a:extLst>
          </p:cNvPr>
          <p:cNvSpPr/>
          <p:nvPr/>
        </p:nvSpPr>
        <p:spPr>
          <a:xfrm>
            <a:off x="240890" y="811396"/>
            <a:ext cx="11710220" cy="52704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Features of KNN - KNN Algorithm In R - Edureka">
            <a:extLst>
              <a:ext uri="{FF2B5EF4-FFF2-40B4-BE49-F238E27FC236}">
                <a16:creationId xmlns:a16="http://schemas.microsoft.com/office/drawing/2014/main" id="{48600644-7BA4-5BD0-72C3-D5C184A94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53" y="1633269"/>
            <a:ext cx="8972850" cy="400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FD69A9F-AA1A-14F2-0ACD-00C6FCA196E3}"/>
              </a:ext>
            </a:extLst>
          </p:cNvPr>
          <p:cNvSpPr/>
          <p:nvPr/>
        </p:nvSpPr>
        <p:spPr>
          <a:xfrm>
            <a:off x="5055078" y="1132934"/>
            <a:ext cx="1138685" cy="437074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dirty="0"/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69667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C77C5D-1541-4D4C-8CD9-E4CB2D74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B0BE2-2BDB-48DC-AE9B-F3B9BACA82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hasanmisaii14@gmail.com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1F869-7372-4C01-A626-993295149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05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64AC00"/>
      </a:dk2>
      <a:lt2>
        <a:srgbClr val="CBFF00"/>
      </a:lt2>
      <a:accent1>
        <a:srgbClr val="002E62"/>
      </a:accent1>
      <a:accent2>
        <a:srgbClr val="004CB9"/>
      </a:accent2>
      <a:accent3>
        <a:srgbClr val="005500"/>
      </a:accent3>
      <a:accent4>
        <a:srgbClr val="16B3DC"/>
      </a:accent4>
      <a:accent5>
        <a:srgbClr val="F9DC5C"/>
      </a:accent5>
      <a:accent6>
        <a:srgbClr val="EF626C"/>
      </a:accent6>
      <a:hlink>
        <a:srgbClr val="FFFFFF"/>
      </a:hlink>
      <a:folHlink>
        <a:srgbClr val="FFFFFF"/>
      </a:folHlink>
    </a:clrScheme>
    <a:fontScheme name="Custom 21">
      <a:majorFont>
        <a:latin typeface="Gill Sans M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F22977542_Outdoors presentation_RVA_v4.potx" id="{6CD96AFB-7D75-48FF-A856-C8B82BF3C12B}" vid="{1E6ACFD4-3AE6-4944-B76B-DA44E915EC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35B1F0-3442-4957-9701-25816EFDB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6A71AF-4CF2-4B95-BFB6-5C27500258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Outdoors presentation</Template>
  <TotalTime>0</TotalTime>
  <Words>570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 Math</vt:lpstr>
      <vt:lpstr>Franklin Gothic Book</vt:lpstr>
      <vt:lpstr>Gill Sans MT</vt:lpstr>
      <vt:lpstr>Palatino Linotype</vt:lpstr>
      <vt:lpstr>Times New Roman</vt:lpstr>
      <vt:lpstr>Wingdings</vt:lpstr>
      <vt:lpstr>Office Theme</vt:lpstr>
      <vt:lpstr>Introduction to K-Nearest Neighbors (KNN)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 (KNN)</dc:title>
  <dc:creator>Hasan Misaii</dc:creator>
  <cp:lastModifiedBy>Hasan Misaii</cp:lastModifiedBy>
  <cp:revision>17</cp:revision>
  <dcterms:created xsi:type="dcterms:W3CDTF">2024-09-06T16:36:15Z</dcterms:created>
  <dcterms:modified xsi:type="dcterms:W3CDTF">2024-09-08T13:13:35Z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